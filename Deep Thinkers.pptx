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63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64" r:id="rId15"/>
    <p:sldId id="261" r:id="rId16"/>
  </p:sldIdLst>
  <p:sldSz cx="18288000" cy="10287000"/>
  <p:notesSz cx="6858000" cy="9144000"/>
  <p:embeddedFontLst>
    <p:embeddedFont>
      <p:font typeface="Mokoto Glitch 2" panose="020B0604020202020204" charset="0"/>
      <p:regular r:id="rId18"/>
    </p:embeddedFont>
    <p:embeddedFont>
      <p:font typeface="Raleway Bold" panose="020B0604020202020204" charset="0"/>
      <p:regular r:id="rId19"/>
    </p:embeddedFont>
    <p:embeddedFont>
      <p:font typeface="Raleway Heavy" panose="020B0604020202020204" charset="0"/>
      <p:regular r:id="rId20"/>
    </p:embeddedFont>
    <p:embeddedFont>
      <p:font typeface="Yeseva On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FFFF"/>
    <a:srgbClr val="FF66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9" autoAdjust="0"/>
    <p:restoredTop sz="93699" autoAdjust="0"/>
  </p:normalViewPr>
  <p:slideViewPr>
    <p:cSldViewPr>
      <p:cViewPr varScale="1">
        <p:scale>
          <a:sx n="45" d="100"/>
          <a:sy n="45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732B5-E6DE-458F-B9AF-EF8630AED1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8260B-5003-4CD2-8D71-A1F5DE847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8260B-5003-4CD2-8D71-A1F5DE847EA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2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zenodo.org/records/5845259?utm_source=chatgpt.com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8943072" y="-11863046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56914C45-82BB-A644-1296-A2456F3C3490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0B069E6-7C1D-CD7B-8CB1-FB323A2BB7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25DC487A-A12B-EC8A-3C39-48C361B99628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6290"/>
            <a:ext cx="5562600" cy="1565482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8878" y="3467506"/>
            <a:ext cx="17128927" cy="167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72"/>
              </a:lnSpc>
              <a:spcBef>
                <a:spcPct val="0"/>
              </a:spcBef>
            </a:pPr>
            <a:r>
              <a:rPr lang="en-US" sz="9765" dirty="0">
                <a:solidFill>
                  <a:srgbClr val="FFFFFF"/>
                </a:solidFill>
                <a:latin typeface="Mokoto Glitch 2"/>
                <a:ea typeface="Mokoto Glitch 2"/>
                <a:cs typeface="Mokoto Glitch 2"/>
                <a:sym typeface="Mokoto Glitch 2"/>
              </a:rPr>
              <a:t>FANTOMCODE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55096" y="4844554"/>
            <a:ext cx="18998193" cy="102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24-Hour National Level Hackathon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6476613"/>
            <a:ext cx="9144000" cy="2971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Team Name: Deep Thinkers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Team Members:</a:t>
            </a:r>
          </a:p>
          <a:p>
            <a:pPr marL="742950" indent="-742950" algn="l">
              <a:lnSpc>
                <a:spcPts val="5880"/>
              </a:lnSpc>
              <a:spcBef>
                <a:spcPct val="0"/>
              </a:spcBef>
              <a:buAutoNum type="arabicPeriod"/>
            </a:pPr>
            <a:r>
              <a:rPr lang="en-US" sz="4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Kapil G Ratan</a:t>
            </a:r>
          </a:p>
          <a:p>
            <a:pPr marL="742950" indent="-742950" algn="l">
              <a:lnSpc>
                <a:spcPts val="5880"/>
              </a:lnSpc>
              <a:spcBef>
                <a:spcPct val="0"/>
              </a:spcBef>
              <a:buAutoNum type="arabicPeriod"/>
            </a:pPr>
            <a:r>
              <a:rPr lang="en-US" sz="4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Tinku Jana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697200" y="-505834"/>
            <a:ext cx="2838512" cy="3045058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0741" y="-1090405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993362" y="923925"/>
            <a:ext cx="7219712" cy="82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1000" y="1918675"/>
            <a:ext cx="17650837" cy="2429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Problem Statement: “</a:t>
            </a:r>
            <a:r>
              <a:rPr lang="en-GB" sz="3200" dirty="0">
                <a:solidFill>
                  <a:srgbClr val="FFFF00"/>
                </a:solidFill>
                <a:latin typeface="Yeseva One"/>
                <a:ea typeface="Yeseva One"/>
                <a:cs typeface="Yeseva One"/>
                <a:sym typeface="Yeseva One"/>
              </a:rPr>
              <a:t>Design and develop a  Robust Drone Detection System that accurately differentiates  drones from birds in radar systems</a:t>
            </a:r>
            <a:r>
              <a:rPr lang="en-GB" sz="32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”</a:t>
            </a:r>
          </a:p>
          <a:p>
            <a:pPr algn="l">
              <a:lnSpc>
                <a:spcPts val="8484"/>
              </a:lnSpc>
            </a:pPr>
            <a:endParaRPr lang="en-US" sz="4000" dirty="0">
              <a:solidFill>
                <a:srgbClr val="FFFFFF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BCA286-DCF2-6DB1-AAD6-8A73C4EA4EF6}"/>
              </a:ext>
            </a:extLst>
          </p:cNvPr>
          <p:cNvSpPr/>
          <p:nvPr/>
        </p:nvSpPr>
        <p:spPr>
          <a:xfrm>
            <a:off x="381000" y="3447368"/>
            <a:ext cx="9994303" cy="635832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drone usage has increased airspace complexity and management challenges.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misuse for surveillance and illegal activities poses serious security threats.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systems struggle to distinguish drones from birds, making accurate classification difficult.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Drone classification is a major challenge in Radar Systems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777471-7F37-9424-1409-A8FA46646E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670" y="3462071"/>
            <a:ext cx="7237029" cy="5809652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B0D296-3A14-C67B-D369-4C4A7BFEC64F}"/>
              </a:ext>
            </a:extLst>
          </p:cNvPr>
          <p:cNvSpPr txBox="1">
            <a:spLocks/>
          </p:cNvSpPr>
          <p:nvPr/>
        </p:nvSpPr>
        <p:spPr>
          <a:xfrm>
            <a:off x="11380207" y="9293120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1: Increased Drones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A5186-8205-0A55-15F6-0CB588F6DE07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6330741" y="-1090405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4659491" y="921789"/>
            <a:ext cx="8124695" cy="1042644"/>
            <a:chOff x="0" y="0"/>
            <a:chExt cx="1899700" cy="2437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496E1BB-569B-0B2E-A2F0-D4D750AC4800}"/>
              </a:ext>
            </a:extLst>
          </p:cNvPr>
          <p:cNvSpPr/>
          <p:nvPr/>
        </p:nvSpPr>
        <p:spPr>
          <a:xfrm>
            <a:off x="228600" y="1877933"/>
            <a:ext cx="17830800" cy="8809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2"/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04323" y="1873537"/>
            <a:ext cx="17053417" cy="78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3600" dirty="0">
                <a:latin typeface="Yeseva One"/>
                <a:ea typeface="Yeseva One"/>
                <a:cs typeface="Yeseva One"/>
                <a:sym typeface="Yeseva One"/>
              </a:rPr>
              <a:t>Intelligent Drone Detection System Using Micro-Doppler Signatures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11727E-E677-AD35-4D03-AB5E394C2776}"/>
              </a:ext>
            </a:extLst>
          </p:cNvPr>
          <p:cNvSpPr/>
          <p:nvPr/>
        </p:nvSpPr>
        <p:spPr>
          <a:xfrm>
            <a:off x="228600" y="2934887"/>
            <a:ext cx="8552831" cy="69297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AI-based drone detection system that uses micro-Doppler signatures from radar signals to accurately distinguish between drones and birds.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radar signals into spectrogram images and applies deep learning models for intelligent classification.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70DFDAC8-05DF-1F15-D65C-6BF21B798639}"/>
              </a:ext>
            </a:extLst>
          </p:cNvPr>
          <p:cNvSpPr txBox="1"/>
          <p:nvPr/>
        </p:nvSpPr>
        <p:spPr>
          <a:xfrm>
            <a:off x="5984819" y="810862"/>
            <a:ext cx="7219712" cy="82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PROJECT TITLE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1E6379-E4BD-4794-5F7D-3DB23A21C814}"/>
              </a:ext>
            </a:extLst>
          </p:cNvPr>
          <p:cNvSpPr/>
          <p:nvPr/>
        </p:nvSpPr>
        <p:spPr>
          <a:xfrm>
            <a:off x="9144000" y="2918789"/>
            <a:ext cx="8915400" cy="69297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Steps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FMCW radar captures signals.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Micro-Doppler Extracts motion-based patterns.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to time-frequency spectrograms.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 CNN model Classifies object as Drone or a Bird.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4F174B-61E7-65B6-4C6B-29A11325B643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052EB-EF31-2C8A-036D-5F03CFA3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1A554-01DF-55BF-4A28-88FEDA5130E2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582C37-3657-32DB-8AD1-978022034D5C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52F346-181F-AEE7-187F-9E597DE8CC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7D6D7C-47BD-D3FD-1492-56A39A5FF0CB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F285E0A-8CD5-A24D-4975-5F963C0B6D59}"/>
              </a:ext>
            </a:extLst>
          </p:cNvPr>
          <p:cNvSpPr/>
          <p:nvPr/>
        </p:nvSpPr>
        <p:spPr>
          <a:xfrm>
            <a:off x="6330741" y="-1090405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1658A65-4372-ADA2-BE9B-02AF9E0DE5D0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410043-48C2-3B8A-6F09-82CE167398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EB4D90C-E2AF-2E9A-BEEF-6DAE4C338BAF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1620780C-0B48-A48C-3121-09CBBE89D4D1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DA3556F-86B8-A6D3-41B3-BDDBF78291BB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F7E5422-C051-9FDB-FB49-EB62FE9EC39B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7658E35-DB7C-0F8B-6548-07DDCEDD7C94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104424E-E930-4972-5B25-8B10071FBB04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BD91F9FF-90E6-2F4B-4409-E4A4B3099EC5}"/>
              </a:ext>
            </a:extLst>
          </p:cNvPr>
          <p:cNvSpPr txBox="1"/>
          <p:nvPr/>
        </p:nvSpPr>
        <p:spPr>
          <a:xfrm>
            <a:off x="5410201" y="876300"/>
            <a:ext cx="7842582" cy="833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System</a:t>
            </a:r>
            <a:r>
              <a:rPr lang="en-US" sz="49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 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DF70E1-778E-464C-31A0-15E5790CB9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2" y="2103588"/>
            <a:ext cx="8688248" cy="7259487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A555078-35AD-D892-70B2-ECC9EA3E0AB0}"/>
              </a:ext>
            </a:extLst>
          </p:cNvPr>
          <p:cNvSpPr txBox="1">
            <a:spLocks/>
          </p:cNvSpPr>
          <p:nvPr/>
        </p:nvSpPr>
        <p:spPr>
          <a:xfrm>
            <a:off x="1678493" y="9390954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2: System Architecture Flow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B167-5184-6984-57EC-987A29AB6CA3}"/>
              </a:ext>
            </a:extLst>
          </p:cNvPr>
          <p:cNvSpPr/>
          <p:nvPr/>
        </p:nvSpPr>
        <p:spPr>
          <a:xfrm>
            <a:off x="9488050" y="2183693"/>
            <a:ext cx="8552831" cy="726536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KTM Radar Measurement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NumPy, SciPy, Pandas, Librosa, OpenCV, TensorFlow, PyTorch, Matplotlib, Seaborn,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EF51D-4228-EEC7-7854-FC96A18A1CFA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4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61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F13B7-A00B-0684-D95E-785E27ED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29BEA1-B370-47DA-DBE3-D3DF0785356A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FC4F55-340E-EB52-3C7C-CF234A7ABD87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96061C-EFB5-6012-4A58-258A77C4E8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24DA3B6-DBED-03C5-5C68-F7071D575D08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A07D688-D4EF-1D2A-57E5-6E293EAF4A7D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DA640C1-1DD8-3DA0-212B-31088FDFD76D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17FE14A-B048-2444-AA2C-3E47084935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68A3F70-454A-5A19-2009-1647D4670865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7006F13-7B0B-BFB8-ADA5-4205DCAD3E4B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534F087-686B-1F25-32E9-525B2FE11639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7B68000-FC32-FE1C-9437-BC89CB4340F6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D08D640-197C-A019-1275-22E63285D495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91C7A82-88CC-A0BE-5B40-3333F33BE662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0265A7-67C1-9AC9-18F6-8B6317129927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System Applications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4AFD357-798E-482B-9CD6-02ABB5896953}"/>
              </a:ext>
            </a:extLst>
          </p:cNvPr>
          <p:cNvSpPr txBox="1">
            <a:spLocks/>
          </p:cNvSpPr>
          <p:nvPr/>
        </p:nvSpPr>
        <p:spPr>
          <a:xfrm>
            <a:off x="6022617" y="9014654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3: System Stake Holders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EC9535-9C15-98D2-5C47-C87851532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857" y="2273400"/>
            <a:ext cx="11208694" cy="66910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44F3268-5175-B1F1-3F23-D2E565710DBF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41140-8CE7-8C59-A885-907A79A6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9A1107-A134-FCA9-AC72-864AB41D4292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4711EE0-A273-5E49-BDC1-B0D1E2F5DEAC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F3B0E7-C4B0-D5B5-9EED-6C13F7FF39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A4E7C22-7D44-1C25-1CA9-7ABA2EFBB0D2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002F1C4-93D9-F749-F88B-6D2BD6F97A15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D7162F1-F29E-929F-FB7C-5212C6183499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194DDF-CECD-DC97-D54C-86C2C79FF6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31E215-14AF-6121-673D-55F5031846A5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64E5A3F-D356-30EB-46CE-FCAA57E90113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213DCFE-1C25-2E2B-457D-CF56B73B6962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F6F112E-A40B-D48F-2E28-DF3BE499EDD3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B57D2D7-63F2-555B-3AAF-9CF36A1B198C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75E2F46-06BC-5E38-236D-0D09AD8EA641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43F0BBA-9A7B-27F2-9B5F-BEA0495108F8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Dataset 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66D9F1-A4F3-C61F-BDCF-7BAFEC116160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7EAFDD-C7D9-FC48-D371-5D7468946FE5}"/>
              </a:ext>
            </a:extLst>
          </p:cNvPr>
          <p:cNvSpPr/>
          <p:nvPr/>
        </p:nvSpPr>
        <p:spPr>
          <a:xfrm>
            <a:off x="437486" y="2289496"/>
            <a:ext cx="8706514" cy="73658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radar signals of birds, humans, and six different types of drone.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designed for classification tasks, between biological entities and various unmanned aerial vehicles.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comprises a total of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75,868 samples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available for research and model development.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6ADEAD-6B19-FD5B-6B5A-28F8A8DC1CF6}"/>
              </a:ext>
            </a:extLst>
          </p:cNvPr>
          <p:cNvSpPr/>
          <p:nvPr/>
        </p:nvSpPr>
        <p:spPr>
          <a:xfrm>
            <a:off x="9574094" y="2289496"/>
            <a:ext cx="8124695" cy="73658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 Drone Dataset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https://zenodo.org/records/5845259?utm_source=chatgpt.com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Drones: 58768 | Birds: 7792 =&gt; Biase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Under Sampling Technique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used samples : 15584</a:t>
            </a:r>
          </a:p>
          <a:p>
            <a:pPr>
              <a:lnSpc>
                <a:spcPct val="150000"/>
              </a:lnSpc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79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CFB34-B653-29C7-23ED-C0E9B8DB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7E63CD-D1FF-F3F4-DA08-35D71FDE9C08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03603F3-AD42-2992-1617-14865CA35340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DC5CAE6-331F-8987-8E92-1C54375785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ED2BB8A-B32F-F029-0735-6FAFFFE7F017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D99A1877-BB5D-15F8-36D6-370172AE9D80}"/>
              </a:ext>
            </a:extLst>
          </p:cNvPr>
          <p:cNvSpPr/>
          <p:nvPr/>
        </p:nvSpPr>
        <p:spPr>
          <a:xfrm>
            <a:off x="7242324" y="-1092066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6D0FA82-EC63-9A9E-31E4-8CA5658667CD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9DF9274-F476-E37E-420B-FACD173B1C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98EC918-99A6-39C3-1F99-2B77203B0D26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76660CF9-C068-85D1-707B-0C3D4F7CAC0F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767CB1-A4A8-107E-C1E6-41059F763F41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CAF4C93-3222-BD46-3142-93486C11D42C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E3C5852-6845-83F7-8E76-05C10C85F17F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3C5B39A-8BC1-0A94-E144-6F71C029B457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78A3980-00A6-D99C-0115-809CE4EC133C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Model Architecture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015581-AB7B-CC04-6F65-25F8871411FF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27089A-FE90-4333-F0CA-323FB1E4C2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9" t="1616" r="16409" b="65555"/>
          <a:stretch>
            <a:fillRect/>
          </a:stretch>
        </p:blipFill>
        <p:spPr>
          <a:xfrm>
            <a:off x="10972801" y="1980717"/>
            <a:ext cx="5809652" cy="33770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93240A-05D5-0BB6-572C-CA6CA8C09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8" t="44536" r="16409" b="8516"/>
          <a:stretch>
            <a:fillRect/>
          </a:stretch>
        </p:blipFill>
        <p:spPr>
          <a:xfrm>
            <a:off x="10972801" y="5331271"/>
            <a:ext cx="5809652" cy="482953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7D12D2-65B9-515C-C63A-87521BB795FA}"/>
              </a:ext>
            </a:extLst>
          </p:cNvPr>
          <p:cNvSpPr/>
          <p:nvPr/>
        </p:nvSpPr>
        <p:spPr>
          <a:xfrm>
            <a:off x="437486" y="2289496"/>
            <a:ext cx="9990660" cy="73658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Blocks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spatial and frequency features from spectrogram images.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stabilizes and speeds up training by normalizing layer outputs.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Layers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overfitting and improve model generalization.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Layer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probability to classify input as Drone or Bird.</a:t>
            </a:r>
          </a:p>
        </p:txBody>
      </p:sp>
    </p:spTree>
    <p:extLst>
      <p:ext uri="{BB962C8B-B14F-4D97-AF65-F5344CB8AC3E}">
        <p14:creationId xmlns:p14="http://schemas.microsoft.com/office/powerpoint/2010/main" val="321843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5CA50-D97D-D109-5D51-9008E908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16A718-D69C-F73D-30A9-B0928E89DBDC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6F5433E-A324-232D-2982-2120EDBFBF2B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56DF066-710B-E91C-7566-E16D339EB9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609B7A9-EE07-EEC7-4860-FFCB4A99256E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D89D0DF-09DE-BD8F-DB5F-149969834033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2DA0D96-CFDF-F97D-3DD6-4ABCBFECE36E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D26AF95-3E51-F989-6DED-446907137B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E21F81D-EFEE-C392-A38B-5E2985C7A3E7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71820D7-A5E2-2723-EE34-C21C81B2D41D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F1EDE7A-9A50-6034-2665-965C5255AC82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0F5E01C-861F-076A-7AA1-D1A0693046FC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6EDFD55-F647-76AF-CE91-EF1507A0D9E3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F9F1702-EA37-7005-3D36-656BB756EA1A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D931665-E8BF-B066-615D-76DCEDF75128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Training Pipeline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F9B708-FD76-6D2C-56D8-E0C85935D407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457D26-BE33-45B2-FFDC-61BECB3E3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3" t="3684" r="15464" b="16822"/>
          <a:stretch>
            <a:fillRect/>
          </a:stretch>
        </p:blipFill>
        <p:spPr>
          <a:xfrm>
            <a:off x="11284445" y="1918674"/>
            <a:ext cx="6108263" cy="8325367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649CE0-DE03-60C7-3FE0-EC79F4342EB0}"/>
              </a:ext>
            </a:extLst>
          </p:cNvPr>
          <p:cNvSpPr/>
          <p:nvPr/>
        </p:nvSpPr>
        <p:spPr>
          <a:xfrm>
            <a:off x="437485" y="2289496"/>
            <a:ext cx="10332667" cy="73658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radar signals of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birds, humans, and six different types of drone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classification tasks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between biological entities and various unmanned aerial vehicles.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comprises a total of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75,868 samples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available for research and model development.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15584 | Train: 10908 | Val: 2338 | Test: 2338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2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9CC1B-A16C-EDD9-200E-6E8B0E05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0C3CF2-8D3A-77E4-4DF0-7827E3DC23D9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4B9A6D1-F1CF-C31C-777C-40F447CC837D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295906-D039-9625-5B31-653B2D3AFE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89F749A-79E6-0FDC-01FE-7323931BD851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927114F-EBA8-0325-A222-8494961B711D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F4DBE7C-458B-F4FA-F99D-F40CDF406038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AE24668-B3A8-3B3E-1EA6-9B703216EF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3DC0B43-88CC-C1DB-D16D-FDE7C3F54BE6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0FF27731-B4CB-236D-DDCD-B4C83BABF401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606AA14-77D3-5AF3-02CD-5411B1F64503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559B610-7321-D4EB-D5CE-1BBC7EC48FC1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8947D6C-E595-9759-C149-73CDBD8ADFF6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B830519-DF2B-5C12-721F-BB309F208C81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BDACDBA0-75E9-A461-2709-6797EFE1EF95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Training 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CDAC3E-A4B4-FA03-524F-D4DB1CCE6936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316E3E-7581-A41B-C45D-433ED44A3D06}"/>
              </a:ext>
            </a:extLst>
          </p:cNvPr>
          <p:cNvSpPr/>
          <p:nvPr/>
        </p:nvSpPr>
        <p:spPr>
          <a:xfrm>
            <a:off x="673192" y="2289496"/>
            <a:ext cx="8409289" cy="674020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Matrices</a:t>
            </a:r>
          </a:p>
          <a:p>
            <a:pPr algn="ctr">
              <a:lnSpc>
                <a:spcPct val="150000"/>
              </a:lnSpc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   : 0.9803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AUC         : 0.9970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  : 0.9828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     : 0.9778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A6FE1F-A2D3-DD17-B0AA-0CE8F19DF8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340" y="2352057"/>
            <a:ext cx="8409289" cy="7153736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F291B58-F4E3-1B98-5D5E-AEEE2985716B}"/>
              </a:ext>
            </a:extLst>
          </p:cNvPr>
          <p:cNvSpPr txBox="1">
            <a:spLocks/>
          </p:cNvSpPr>
          <p:nvPr/>
        </p:nvSpPr>
        <p:spPr>
          <a:xfrm>
            <a:off x="10870395" y="9410970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6: Confusion matrix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05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76817-213F-9F08-4917-A11F4512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B633B1-06B9-223E-34F6-5170749E50B5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BF2900D-BC5B-236D-A561-A3E4BFEF0D18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0611BCF-F539-4288-293B-7632975E59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9397390-EEB5-8AB0-FDAC-D6B586AB0509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E774543-E5A3-F382-9B68-2937022ECED2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C7A26C3-22EF-1E4B-EC99-ED465DE1E95F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658A22-917B-C0CC-65E6-E474D6D060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0D5AF8E-337D-63D9-11E7-CCF693C2DDEB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ADFD2A7B-FC57-B03B-857E-89B5D9CE0E04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ECF2CC6-7A67-4360-2F13-1D70CE9A42E4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AA091F2-3608-0AF2-9BB4-6917DB749DED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A0FD6DE-8388-A154-A7E2-192BBF6CEC0D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CE402A4-15B5-D384-542E-696EB8F49041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632E5BC8-5440-5393-EC46-28FEB87E132A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Training 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2DB16-19B4-2668-47B1-3F692209F5D9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E8680B1-30C2-9225-8EA4-7E4429E4434E}"/>
              </a:ext>
            </a:extLst>
          </p:cNvPr>
          <p:cNvSpPr txBox="1">
            <a:spLocks/>
          </p:cNvSpPr>
          <p:nvPr/>
        </p:nvSpPr>
        <p:spPr>
          <a:xfrm>
            <a:off x="6015385" y="7460032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7: Graphs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3B6801-AD95-78D7-014A-BA528A000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64" y="2250398"/>
            <a:ext cx="18302464" cy="50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8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90EF0-B140-EA75-0A8F-C32C66319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92004D-F2DE-54D8-A3BC-4C27807D2277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37EAB4-65D8-10F1-5FDA-2EA482C43168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B97E99-6E4F-31E1-E4C2-12A2B89DF1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85CD3A-2850-0DC6-A7F8-938A64F4F127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44335E4-24EC-4933-8CD8-6BC1C4CBE8FD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3DE4AC3-2821-2608-F672-5E5B42D785DE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5F292F-8DE2-71FB-9570-DBB84303A3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8581B90-7E9C-E756-199C-016F00E1F3BB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0552D861-DE99-CA0E-843B-F82FB3DFBDB7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A62CC3C-3843-37E2-A191-992297969DB6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FAAAEC1-7EC8-6973-6AD4-811E4FB70AE3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0267305-B81E-19C1-D4DD-55EFD252F091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4FB8599-8C1B-6112-B14E-737EAB3F4A08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632C92B-33F1-9D22-E0B8-009E8FA4285A}"/>
              </a:ext>
            </a:extLst>
          </p:cNvPr>
          <p:cNvSpPr txBox="1"/>
          <p:nvPr/>
        </p:nvSpPr>
        <p:spPr>
          <a:xfrm>
            <a:off x="5410201" y="923925"/>
            <a:ext cx="7842582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Spectrogram Image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360098-194A-FF6E-F1EF-EC5794B951BC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D475C69-A870-C977-4D94-0D95C46C56AD}"/>
              </a:ext>
            </a:extLst>
          </p:cNvPr>
          <p:cNvSpPr txBox="1">
            <a:spLocks/>
          </p:cNvSpPr>
          <p:nvPr/>
        </p:nvSpPr>
        <p:spPr>
          <a:xfrm>
            <a:off x="6022617" y="7838917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8: STFT Spectrogram Image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5305B7-D5B4-2A14-549C-4E01F185A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/>
          <a:stretch>
            <a:fillRect/>
          </a:stretch>
        </p:blipFill>
        <p:spPr>
          <a:xfrm>
            <a:off x="2499670" y="2372952"/>
            <a:ext cx="13663644" cy="50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2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D529D-A589-8A43-4E45-B255A433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C5FB36-D783-DFE5-F2A6-40A73D44755A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AEE3FE-1B4A-5C8A-9CB3-EFEE0EAB98D7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BF6A0D-26F1-8B69-EA58-5082E13032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A512217-4C01-361F-7218-B7BB4269CFBF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F62CF92-5356-2598-59F3-82C4CFB72DEC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CA19B2F-E850-FC76-A83C-62FFE99C9EF3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894803-2275-C5BF-96D0-76C5DB80F8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55C989B-D1F3-7EBA-C20F-7A5F93962D82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72B52FD2-B4E9-12DA-74DC-742317AB1D0D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5707D2B-50FD-EBF3-A79B-4FA3DD11891D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E22BB87-855B-CE5B-148A-AE17D34F6202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E8913F4-838B-C881-017C-EA864638DA5D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26872A7-49D3-BE15-ED73-8F086401E868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EBE8752-8438-353A-4E80-0890EE3E2C3E}"/>
              </a:ext>
            </a:extLst>
          </p:cNvPr>
          <p:cNvSpPr txBox="1"/>
          <p:nvPr/>
        </p:nvSpPr>
        <p:spPr>
          <a:xfrm>
            <a:off x="4876799" y="983969"/>
            <a:ext cx="8534399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Snapshot of User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4ABB1-2288-F233-DE9C-611C899FBA4D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4B088A8-B9B0-D79F-CB17-799B7CF1CD1B}"/>
              </a:ext>
            </a:extLst>
          </p:cNvPr>
          <p:cNvSpPr txBox="1">
            <a:spLocks/>
          </p:cNvSpPr>
          <p:nvPr/>
        </p:nvSpPr>
        <p:spPr>
          <a:xfrm>
            <a:off x="6022617" y="9410749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9: User Interface Snapshot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48E134-79E0-7E06-1A2F-D47F60A22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13" y="1930192"/>
            <a:ext cx="13644112" cy="767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1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11852-AAF7-18A0-A82E-CB3E6ADF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4688D9-19BE-B714-5D61-74F1967FDB92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E0A31F2-70F1-0CE7-445D-523E66A8BE96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D3B85C-4C59-BFE3-BD7A-F5E2504146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DB053A-D825-406C-DFB5-36F2E7EF698B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625EF40-4C84-D54D-87A2-5EB4691EE914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6D86D7F-1C28-C186-8930-353D23658552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0F5AA1A-A965-B722-EC43-C3794833BA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956C1D-11FD-C99B-63B9-9FB49C2D38A4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AAE6EC5-1FE1-A354-DF4A-C41DFCFCAAD4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56A735D-0261-7AEB-6B83-1B894BA57509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4C8553F-843F-39D2-0D13-642698947904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07DDC03-DA0D-C9C3-0BB8-F997F3FD60FC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A80E7EE-63D3-7BBC-150B-173178DC64C6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6AF447B1-D78A-6318-0C23-951FB692C83D}"/>
              </a:ext>
            </a:extLst>
          </p:cNvPr>
          <p:cNvSpPr txBox="1"/>
          <p:nvPr/>
        </p:nvSpPr>
        <p:spPr>
          <a:xfrm>
            <a:off x="4876799" y="983969"/>
            <a:ext cx="8534399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Snapshot of User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821893-A6BE-7D78-B058-B0B7C1AA3217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0B42D40-11A0-69BA-08CC-B8BFF6E9107F}"/>
              </a:ext>
            </a:extLst>
          </p:cNvPr>
          <p:cNvSpPr txBox="1">
            <a:spLocks/>
          </p:cNvSpPr>
          <p:nvPr/>
        </p:nvSpPr>
        <p:spPr>
          <a:xfrm>
            <a:off x="6022617" y="9410749"/>
            <a:ext cx="6242765" cy="82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Fig 10: User Interface Snapshot</a:t>
            </a:r>
            <a:endParaRPr lang="en-GB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FBD6A5-3572-D5C6-1EB1-A20FF3E0E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162" y="1957635"/>
            <a:ext cx="13551671" cy="76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BB576-2BC0-A0D3-4883-0977A725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90B32C-916F-4C68-24E5-2BFF97809B28}"/>
              </a:ext>
            </a:extLst>
          </p:cNvPr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1A725A6-22B3-DE0C-33E8-9DE2FF706D17}"/>
              </a:ext>
            </a:extLst>
          </p:cNvPr>
          <p:cNvGrpSpPr/>
          <p:nvPr/>
        </p:nvGrpSpPr>
        <p:grpSpPr>
          <a:xfrm>
            <a:off x="14302012" y="5891263"/>
            <a:ext cx="5809652" cy="5809652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334832-A280-4E7E-0BA6-8DEBCA06C7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C39DC83-6B2D-D13A-07BD-C7746054C492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F8EDE23-A1F8-AAA9-9D8A-1BE04D61611C}"/>
              </a:ext>
            </a:extLst>
          </p:cNvPr>
          <p:cNvSpPr/>
          <p:nvPr/>
        </p:nvSpPr>
        <p:spPr>
          <a:xfrm>
            <a:off x="6330741" y="-1084608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1262AC5-3BA9-D1CE-7906-BA7EB95A3E69}"/>
              </a:ext>
            </a:extLst>
          </p:cNvPr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F36AD6-865C-22A1-1218-4D640DF797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25DD18E-93A7-0D9C-BFB8-142F3378D9CF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738A164-839B-94EA-C152-402A3B600EED}"/>
              </a:ext>
            </a:extLst>
          </p:cNvPr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7DCE382-9F59-3A7E-6130-12AAADEF5C11}"/>
              </a:ext>
            </a:extLst>
          </p:cNvPr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CA8682C-A823-1DA7-8106-983848F42CC8}"/>
              </a:ext>
            </a:extLst>
          </p:cNvPr>
          <p:cNvGrpSpPr/>
          <p:nvPr/>
        </p:nvGrpSpPr>
        <p:grpSpPr>
          <a:xfrm>
            <a:off x="5507189" y="876030"/>
            <a:ext cx="8124695" cy="1042644"/>
            <a:chOff x="0" y="0"/>
            <a:chExt cx="1899700" cy="2437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BC391FE-FA9C-B86E-46C3-FF0F5936C4DE}"/>
                </a:ext>
              </a:extLst>
            </p:cNvPr>
            <p:cNvSpPr/>
            <p:nvPr/>
          </p:nvSpPr>
          <p:spPr>
            <a:xfrm>
              <a:off x="0" y="0"/>
              <a:ext cx="1899700" cy="243789"/>
            </a:xfrm>
            <a:custGeom>
              <a:avLst/>
              <a:gdLst/>
              <a:ahLst/>
              <a:cxnLst/>
              <a:rect l="l" t="t" r="r" b="b"/>
              <a:pathLst>
                <a:path w="1899700" h="243789">
                  <a:moveTo>
                    <a:pt x="95289" y="0"/>
                  </a:moveTo>
                  <a:lnTo>
                    <a:pt x="1804412" y="0"/>
                  </a:lnTo>
                  <a:cubicBezTo>
                    <a:pt x="1829684" y="0"/>
                    <a:pt x="1853921" y="10039"/>
                    <a:pt x="1871791" y="27909"/>
                  </a:cubicBezTo>
                  <a:cubicBezTo>
                    <a:pt x="1889661" y="45780"/>
                    <a:pt x="1899700" y="70017"/>
                    <a:pt x="1899700" y="95289"/>
                  </a:cubicBezTo>
                  <a:lnTo>
                    <a:pt x="1899700" y="148500"/>
                  </a:lnTo>
                  <a:cubicBezTo>
                    <a:pt x="1899700" y="173772"/>
                    <a:pt x="1889661" y="198009"/>
                    <a:pt x="1871791" y="215880"/>
                  </a:cubicBezTo>
                  <a:cubicBezTo>
                    <a:pt x="1853921" y="233750"/>
                    <a:pt x="1829684" y="243789"/>
                    <a:pt x="1804412" y="243789"/>
                  </a:cubicBezTo>
                  <a:lnTo>
                    <a:pt x="95289" y="243789"/>
                  </a:lnTo>
                  <a:cubicBezTo>
                    <a:pt x="70017" y="243789"/>
                    <a:pt x="45780" y="233750"/>
                    <a:pt x="27909" y="215880"/>
                  </a:cubicBezTo>
                  <a:cubicBezTo>
                    <a:pt x="10039" y="198009"/>
                    <a:pt x="0" y="173772"/>
                    <a:pt x="0" y="148500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09" y="27909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E0E1">
                    <a:alpha val="0"/>
                  </a:srgbClr>
                </a:gs>
                <a:gs pos="100000">
                  <a:srgbClr val="C6269E">
                    <a:alpha val="3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014E27E-B413-E700-8DC0-7D7C8A0734A5}"/>
                </a:ext>
              </a:extLst>
            </p:cNvPr>
            <p:cNvSpPr txBox="1"/>
            <p:nvPr/>
          </p:nvSpPr>
          <p:spPr>
            <a:xfrm>
              <a:off x="0" y="-57150"/>
              <a:ext cx="1899700" cy="300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D1F1273-A671-395F-0815-6C387A5DCBC6}"/>
              </a:ext>
            </a:extLst>
          </p:cNvPr>
          <p:cNvSpPr txBox="1"/>
          <p:nvPr/>
        </p:nvSpPr>
        <p:spPr>
          <a:xfrm>
            <a:off x="4262662" y="923925"/>
            <a:ext cx="8990121" cy="1724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Challenges and Future Work  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endParaRPr lang="en-US" sz="4800" dirty="0">
              <a:solidFill>
                <a:srgbClr val="FFFFFF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5564CF-45E9-D0F9-B40C-5FD440D05FE9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7E9B8B-E436-E180-EF09-F573E4478AC8}"/>
              </a:ext>
            </a:extLst>
          </p:cNvPr>
          <p:cNvSpPr/>
          <p:nvPr/>
        </p:nvSpPr>
        <p:spPr>
          <a:xfrm>
            <a:off x="9503143" y="2767756"/>
            <a:ext cx="7617106" cy="580965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ctr"/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systems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 detection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surveillance systems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239D65-8BDB-DB58-3753-24BDE52619B1}"/>
              </a:ext>
            </a:extLst>
          </p:cNvPr>
          <p:cNvSpPr/>
          <p:nvPr/>
        </p:nvSpPr>
        <p:spPr>
          <a:xfrm>
            <a:off x="1129707" y="2688184"/>
            <a:ext cx="7617106" cy="580965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algn="ctr"/>
            <a:endParaRPr lang="en-GB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in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overfitting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variability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090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39189" y="3779520"/>
            <a:ext cx="12422388" cy="2727960"/>
            <a:chOff x="0" y="0"/>
            <a:chExt cx="185063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0635" cy="406400"/>
            </a:xfrm>
            <a:custGeom>
              <a:avLst/>
              <a:gdLst/>
              <a:ahLst/>
              <a:cxnLst/>
              <a:rect l="l" t="t" r="r" b="b"/>
              <a:pathLst>
                <a:path w="1850635" h="406400">
                  <a:moveTo>
                    <a:pt x="1647435" y="0"/>
                  </a:moveTo>
                  <a:cubicBezTo>
                    <a:pt x="1759659" y="0"/>
                    <a:pt x="1850635" y="90976"/>
                    <a:pt x="1850635" y="203200"/>
                  </a:cubicBezTo>
                  <a:cubicBezTo>
                    <a:pt x="1850635" y="315424"/>
                    <a:pt x="1759659" y="406400"/>
                    <a:pt x="16474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850635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525283" y="-1262009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8140649" y="5426888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4065597" y="4179570"/>
            <a:ext cx="5848350" cy="202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sz="14678" b="1" dirty="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3947" y="4160520"/>
            <a:ext cx="4972189" cy="202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sz="14678" b="1" dirty="0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You!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166290"/>
            <a:ext cx="5255648" cy="1510999"/>
          </a:xfrm>
          <a:custGeom>
            <a:avLst/>
            <a:gdLst/>
            <a:ahLst/>
            <a:cxnLst/>
            <a:rect l="l" t="t" r="r" b="b"/>
            <a:pathLst>
              <a:path w="5255648" h="1510999">
                <a:moveTo>
                  <a:pt x="0" y="0"/>
                </a:moveTo>
                <a:lnTo>
                  <a:pt x="5255648" y="0"/>
                </a:lnTo>
                <a:lnTo>
                  <a:pt x="5255648" y="1510998"/>
                </a:lnTo>
                <a:lnTo>
                  <a:pt x="0" y="1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5677820" y="-505834"/>
            <a:ext cx="2857892" cy="2857892"/>
          </a:xfrm>
          <a:custGeom>
            <a:avLst/>
            <a:gdLst/>
            <a:ahLst/>
            <a:cxnLst/>
            <a:rect l="l" t="t" r="r" b="b"/>
            <a:pathLst>
              <a:path w="2857892" h="2857892">
                <a:moveTo>
                  <a:pt x="0" y="0"/>
                </a:moveTo>
                <a:lnTo>
                  <a:pt x="2857893" y="0"/>
                </a:lnTo>
                <a:lnTo>
                  <a:pt x="2857893" y="2857892"/>
                </a:lnTo>
                <a:lnTo>
                  <a:pt x="0" y="285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6321B-0ACF-CF8F-8F97-A94F7747AB08}"/>
              </a:ext>
            </a:extLst>
          </p:cNvPr>
          <p:cNvSpPr txBox="1"/>
          <p:nvPr/>
        </p:nvSpPr>
        <p:spPr>
          <a:xfrm>
            <a:off x="17907000" y="98747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6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5CACF9-9037-B1D5-59BB-F602C8C19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851040"/>
              </p:ext>
            </p:extLst>
          </p:nvPr>
        </p:nvGraphicFramePr>
        <p:xfrm>
          <a:off x="2139375" y="7963038"/>
          <a:ext cx="14009249" cy="228100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794941">
                  <a:extLst>
                    <a:ext uri="{9D8B030D-6E8A-4147-A177-3AD203B41FA5}">
                      <a16:colId xmlns:a16="http://schemas.microsoft.com/office/drawing/2014/main" val="2749321280"/>
                    </a:ext>
                  </a:extLst>
                </a:gridCol>
                <a:gridCol w="3984708">
                  <a:extLst>
                    <a:ext uri="{9D8B030D-6E8A-4147-A177-3AD203B41FA5}">
                      <a16:colId xmlns:a16="http://schemas.microsoft.com/office/drawing/2014/main" val="2994646249"/>
                    </a:ext>
                  </a:extLst>
                </a:gridCol>
                <a:gridCol w="4237501">
                  <a:extLst>
                    <a:ext uri="{9D8B030D-6E8A-4147-A177-3AD203B41FA5}">
                      <a16:colId xmlns:a16="http://schemas.microsoft.com/office/drawing/2014/main" val="2755688039"/>
                    </a:ext>
                  </a:extLst>
                </a:gridCol>
                <a:gridCol w="3992099">
                  <a:extLst>
                    <a:ext uri="{9D8B030D-6E8A-4147-A177-3AD203B41FA5}">
                      <a16:colId xmlns:a16="http://schemas.microsoft.com/office/drawing/2014/main" val="2321882581"/>
                    </a:ext>
                  </a:extLst>
                </a:gridCol>
              </a:tblGrid>
              <a:tr h="760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No: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0327618"/>
                  </a:ext>
                </a:extLst>
              </a:tr>
              <a:tr h="760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3200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Kapil G Ratan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MCA – 2</a:t>
                      </a:r>
                      <a:r>
                        <a:rPr lang="en-IN" sz="3200" kern="1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RNSIT, Bangalore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5932054"/>
                  </a:ext>
                </a:extLst>
              </a:tr>
              <a:tr h="760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3200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3200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3200" kern="100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inku</a:t>
                      </a: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Jana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MCA – 2</a:t>
                      </a:r>
                      <a:r>
                        <a:rPr lang="en-IN" sz="3200" kern="1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RNSIT, Bangalore</a:t>
                      </a:r>
                      <a:endParaRPr lang="en-IN" sz="28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3654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559</Words>
  <Application>Microsoft Office PowerPoint</Application>
  <PresentationFormat>Custom</PresentationFormat>
  <Paragraphs>113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Raleway Heavy</vt:lpstr>
      <vt:lpstr>Arial</vt:lpstr>
      <vt:lpstr>Aptos</vt:lpstr>
      <vt:lpstr>Raleway Bold</vt:lpstr>
      <vt:lpstr>Yeseva One</vt:lpstr>
      <vt:lpstr>Times New Roman</vt:lpstr>
      <vt:lpstr>Mokoto Glitch 2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fantomcode ppt template</dc:title>
  <cp:lastModifiedBy>Kapil Ratan</cp:lastModifiedBy>
  <cp:revision>25</cp:revision>
  <dcterms:created xsi:type="dcterms:W3CDTF">2006-08-16T00:00:00Z</dcterms:created>
  <dcterms:modified xsi:type="dcterms:W3CDTF">2026-04-11T03:41:57Z</dcterms:modified>
  <dc:identifier>DAHDboAY2Ts</dc:identifier>
</cp:coreProperties>
</file>